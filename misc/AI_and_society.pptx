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1" r:id="rId5"/>
    <p:sldId id="262" r:id="rId6"/>
    <p:sldId id="26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7"/>
    <p:restoredTop sz="94665"/>
  </p:normalViewPr>
  <p:slideViewPr>
    <p:cSldViewPr snapToGrid="0">
      <p:cViewPr varScale="1">
        <p:scale>
          <a:sx n="96" d="100"/>
          <a:sy n="96" d="100"/>
        </p:scale>
        <p:origin x="200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63CA9-E1B8-382A-EE4D-DDA67107A1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293C69-E6B4-FD4D-1206-D486621E3E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BDED05-DECB-5E97-9EFA-21AA54A5B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D32AF-7250-6241-9465-999BFB4C3900}" type="datetimeFigureOut">
              <a:rPr lang="en-US" smtClean="0"/>
              <a:t>4/30/25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0A88E5-6471-A360-206F-17A55DB3A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F2A596-089D-D0C0-066D-57EF57110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DCB8D-4949-FD47-938E-5A779E9536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814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BB729-604B-402A-50B4-4056610EA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DCAD88-F7CC-C197-7BD4-1C8DFB6DD6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B69053-D32A-3C4F-EE2B-E82662F02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D32AF-7250-6241-9465-999BFB4C3900}" type="datetimeFigureOut">
              <a:rPr lang="en-US" smtClean="0"/>
              <a:t>4/30/25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B275E-852C-5604-711C-3D4564625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479756-D1DF-265A-2239-0C70F43F4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DCB8D-4949-FD47-938E-5A779E9536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2697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80580-291A-BC69-AD8A-9B7B8C680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BEF619-5A60-B240-EEE2-5F55624469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A2ACE7-9EC1-0787-47C0-E1C025185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D32AF-7250-6241-9465-999BFB4C3900}" type="datetimeFigureOut">
              <a:rPr lang="en-US" smtClean="0"/>
              <a:t>4/30/25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7462A2-A22D-0EEA-DB06-13FB66E46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97F4F1-DAF7-14B5-3201-EFF9D8722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DCB8D-4949-FD47-938E-5A779E9536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050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91C23-741F-0E57-AEE4-150A64830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034308-7173-302D-D74A-5E767C9B77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BE528C-CA13-C8D5-D454-EB86E3341D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87FC11-A8F2-DF7E-1700-933D4CC3B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D32AF-7250-6241-9465-999BFB4C3900}" type="datetimeFigureOut">
              <a:rPr lang="en-US" smtClean="0"/>
              <a:t>4/30/25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4F2162-6CB1-FDA4-A80F-3D74F1851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598F02-8F35-A98B-3484-C2A69EF85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DCB8D-4949-FD47-938E-5A779E9536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7926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E18F8-42FD-75F4-3EE9-15A6236A0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4AFC32-83C9-334D-7A4B-4E1806DE1F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249BA9-02F3-F5CF-8A22-630DD9C38A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9C5DCF-DC77-CF12-F9D5-2FBA724062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08262B-2555-73F1-7F43-59291E1963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1F21AD-4464-F1B3-C7EA-5309BB452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D32AF-7250-6241-9465-999BFB4C3900}" type="datetimeFigureOut">
              <a:rPr lang="en-US" smtClean="0"/>
              <a:t>4/30/25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071A62-81A0-16F7-58EF-A1A8C2096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D04F43-6FAE-4909-DF4D-CCC3449D2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DCB8D-4949-FD47-938E-5A779E9536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898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DD133-0A24-BC82-CA99-6A7191AB0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5BB01B-AB08-A8A6-BA18-51C8ABDEC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D32AF-7250-6241-9465-999BFB4C3900}" type="datetimeFigureOut">
              <a:rPr lang="en-US" smtClean="0"/>
              <a:t>4/30/25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28D28A-3895-5074-6F92-881F9D9BF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9D4EAA-0972-F550-7FB5-7FA1ADEE5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DCB8D-4949-FD47-938E-5A779E9536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480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D871C1-549B-5F45-5305-309381899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D32AF-7250-6241-9465-999BFB4C3900}" type="datetimeFigureOut">
              <a:rPr lang="en-US" smtClean="0"/>
              <a:t>4/30/25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E57ADF-AEAC-F512-6CAC-B34141775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513A82-8C96-5C51-F21E-3CA0CC0C9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DCB8D-4949-FD47-938E-5A779E9536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510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8F29B-C047-5714-CC6C-96282B792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75172D-5F1F-6D39-4EB1-6DEC5C0242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EA9D0F-F077-72CC-9590-C07F8E1B0A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CB2370-48F7-3793-366C-0C95F0DE0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D32AF-7250-6241-9465-999BFB4C3900}" type="datetimeFigureOut">
              <a:rPr lang="en-US" smtClean="0"/>
              <a:t>4/30/25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A218B4-7D50-4E5D-472A-56F409B3F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9D93EC-8592-7684-EE54-EC0F9BF25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DCB8D-4949-FD47-938E-5A779E9536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960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41AED-79C4-394C-8CF1-41CCB7D87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FFCD87-D90D-2CD3-FD1F-D25EB6BF0D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924ADD-D882-352A-B39D-4C4EF0C080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91AF5C-2182-9323-1FB1-9F8250D74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D32AF-7250-6241-9465-999BFB4C3900}" type="datetimeFigureOut">
              <a:rPr lang="en-US" smtClean="0"/>
              <a:t>4/30/25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EF347F-060D-D9AA-8A7A-45D59DA03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C22CFE-06EA-A95D-21E4-462210C3A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DCB8D-4949-FD47-938E-5A779E9536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4429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8600B-BBBA-D873-1382-48E986304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DEF9DA-1B72-0C5A-8917-9C33697F15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556C4A-77F8-949D-DB4F-4476B2E42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D32AF-7250-6241-9465-999BFB4C3900}" type="datetimeFigureOut">
              <a:rPr lang="en-US" smtClean="0"/>
              <a:t>4/30/25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571074-C40B-9E04-045C-A9F5FE696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8AF72F-1358-7A4A-8234-AC5691E52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DCB8D-4949-FD47-938E-5A779E9536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906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5D8F30-3A5F-EB8D-207C-F63F4DB7F4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6D5F0D-3BD2-51D5-2681-44770DB444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815402-9476-8653-F773-3F466A695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D32AF-7250-6241-9465-999BFB4C3900}" type="datetimeFigureOut">
              <a:rPr lang="en-US" smtClean="0"/>
              <a:t>4/30/25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EBF05B-0191-9E8C-241D-A90A4D91B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EADCA-5DFA-8692-BAB7-C84D67952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DCB8D-4949-FD47-938E-5A779E9536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449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747DA5-8E34-908C-4411-8861184D1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67258C-2022-9BB4-C337-9D7BEDA3B7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5A1887-E67D-73F8-2796-E5DEDB7411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7D32AF-7250-6241-9465-999BFB4C3900}" type="datetimeFigureOut">
              <a:rPr lang="en-US" smtClean="0"/>
              <a:t>4/30/25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8B4AA0-9DDD-DC3A-1205-3906E13EF0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834DD7-8F98-F0E7-485D-C5B34CDC02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4DCB8D-4949-FD47-938E-5A779E9536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655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D68CA-1EF5-BB8C-6754-5157D6F252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AI &amp; Society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B4925F-732F-6226-F2CA-80200D3AF3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6575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1083B-04C4-9546-AB11-8D24A4272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84382"/>
            <a:ext cx="10515600" cy="2852737"/>
          </a:xfrm>
        </p:spPr>
        <p:txBody>
          <a:bodyPr>
            <a:normAutofit fontScale="90000"/>
          </a:bodyPr>
          <a:lstStyle/>
          <a:p>
            <a:r>
              <a:rPr lang="en-US" dirty="0"/>
              <a:t>The success of neural networks has fueled an explosive growth in the adoption of AI across many domains.</a:t>
            </a:r>
            <a:br>
              <a:rPr lang="en-US" dirty="0"/>
            </a:br>
            <a:br>
              <a:rPr lang="en-US" dirty="0"/>
            </a:br>
            <a:r>
              <a:rPr lang="en-US" i="1" dirty="0"/>
              <a:t>So far, </a:t>
            </a:r>
            <a:r>
              <a:rPr lang="en-US" dirty="0"/>
              <a:t>have 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benefits</a:t>
            </a:r>
            <a:r>
              <a:rPr lang="en-US" dirty="0"/>
              <a:t> of this adoption </a:t>
            </a:r>
            <a:r>
              <a:rPr lang="en-US" i="1" dirty="0"/>
              <a:t>outweighed</a:t>
            </a:r>
            <a:r>
              <a:rPr lang="en-US" dirty="0"/>
              <a:t> the </a:t>
            </a:r>
            <a:r>
              <a:rPr lang="en-US" b="1" dirty="0">
                <a:solidFill>
                  <a:srgbClr val="C00000"/>
                </a:solidFill>
              </a:rPr>
              <a:t>costs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2132795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88C2E-28F5-638A-40AD-8CEEFFBC8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Brainstorming benefits and costs</a:t>
            </a:r>
          </a:p>
        </p:txBody>
      </p:sp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6F4F3C62-E2F9-7F2A-F8C2-1AF072B649A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308561" y="1641561"/>
            <a:ext cx="3574878" cy="357487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E498730-2E9F-2A1B-BA93-73565A74455A}"/>
              </a:ext>
            </a:extLst>
          </p:cNvPr>
          <p:cNvSpPr txBox="1"/>
          <p:nvPr/>
        </p:nvSpPr>
        <p:spPr>
          <a:xfrm>
            <a:off x="4308561" y="563303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pollev.com</a:t>
            </a:r>
            <a:r>
              <a:rPr lang="en-US" dirty="0"/>
              <a:t>/gabrielhope098</a:t>
            </a:r>
          </a:p>
        </p:txBody>
      </p:sp>
    </p:spTree>
    <p:extLst>
      <p:ext uri="{BB962C8B-B14F-4D97-AF65-F5344CB8AC3E}">
        <p14:creationId xmlns:p14="http://schemas.microsoft.com/office/powerpoint/2010/main" val="364416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A5161-EC3D-7953-8884-E76CA12F7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Things to consider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40D6A9-1899-5F7E-7C80-B08EA08AF8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benefits</a:t>
            </a:r>
            <a:r>
              <a:rPr lang="en-US" dirty="0"/>
              <a:t> of AI adoption: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37D0B9-8FB2-2799-90EF-B35AC4E1589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Who is benefiting?</a:t>
            </a:r>
          </a:p>
          <a:p>
            <a:r>
              <a:rPr lang="en-US" dirty="0"/>
              <a:t>How much do they benefit?</a:t>
            </a:r>
          </a:p>
          <a:p>
            <a:r>
              <a:rPr lang="en-US" dirty="0"/>
              <a:t>Is this a realized or hypothetical benefit?</a:t>
            </a:r>
          </a:p>
          <a:p>
            <a:r>
              <a:rPr lang="en-US" dirty="0"/>
              <a:t>Are there alternative ways to achieve the same outcome?</a:t>
            </a:r>
          </a:p>
          <a:p>
            <a:r>
              <a:rPr lang="en-US" dirty="0"/>
              <a:t>How could the impact of this benefit be improved?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3E0C51-1D26-559A-3C04-0472772708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For </a:t>
            </a:r>
            <a:r>
              <a:rPr lang="en-US" dirty="0">
                <a:solidFill>
                  <a:srgbClr val="C00000"/>
                </a:solidFill>
              </a:rPr>
              <a:t>costs</a:t>
            </a:r>
            <a:r>
              <a:rPr lang="en-US" dirty="0"/>
              <a:t> of AI adoption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C97F56-D2E9-0D47-C34D-64914CA7744E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Who is harmed by this cost?</a:t>
            </a:r>
          </a:p>
          <a:p>
            <a:r>
              <a:rPr lang="en-US" dirty="0"/>
              <a:t>How significant is this harm?</a:t>
            </a:r>
          </a:p>
          <a:p>
            <a:r>
              <a:rPr lang="en-US" dirty="0"/>
              <a:t>Is this a realized or hypothetical cost?</a:t>
            </a:r>
          </a:p>
          <a:p>
            <a:r>
              <a:rPr lang="en-US" dirty="0"/>
              <a:t>What is being done to mitigate this cost?</a:t>
            </a:r>
          </a:p>
          <a:p>
            <a:r>
              <a:rPr lang="en-US" dirty="0"/>
              <a:t>What could be done to further mitigate this cost?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1554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B5510-BFA8-5AE1-809E-1F7D031AA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machine learning researchers view the benefits and costs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E786E1-5EA0-BA7C-C294-DA8BF15A70F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sz="2000" b="1" dirty="0"/>
              <a:t>Activity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Find another classmate and form a pair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Open the link 👉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Read one subsection of your choice from the </a:t>
            </a:r>
            <a:r>
              <a:rPr lang="en-US" sz="2000" b="1" dirty="0"/>
              <a:t>society </a:t>
            </a:r>
            <a:r>
              <a:rPr lang="en-US" sz="2000" dirty="0"/>
              <a:t>chapter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Discuss with your partner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Be prepared to share your discussion with the class</a:t>
            </a:r>
          </a:p>
        </p:txBody>
      </p:sp>
      <p:pic>
        <p:nvPicPr>
          <p:cNvPr id="1026" name="Picture 2" descr="QR Code Image">
            <a:extLst>
              <a:ext uri="{FF2B5EF4-FFF2-40B4-BE49-F238E27FC236}">
                <a16:creationId xmlns:a16="http://schemas.microsoft.com/office/drawing/2014/main" id="{B35A9FB0-9A08-73E3-80AE-3265B8B73F28}"/>
              </a:ext>
            </a:extLst>
          </p:cNvPr>
          <p:cNvPicPr>
            <a:picLocks noGrp="1" noChangeAspect="1" noChangeArrowheads="1"/>
          </p:cNvPicPr>
          <p:nvPr>
            <p:ph type="pic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183188" y="338104"/>
            <a:ext cx="6172200" cy="6172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2990B00-C804-FCFC-DFB0-A3EC79A1C149}"/>
              </a:ext>
            </a:extLst>
          </p:cNvPr>
          <p:cNvSpPr txBox="1"/>
          <p:nvPr/>
        </p:nvSpPr>
        <p:spPr>
          <a:xfrm>
            <a:off x="6626087" y="633523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bit.ly</a:t>
            </a:r>
            <a:r>
              <a:rPr lang="en-US" dirty="0"/>
              <a:t>/</a:t>
            </a:r>
            <a:r>
              <a:rPr lang="en-US" dirty="0" err="1"/>
              <a:t>foundationmodels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05841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2E835-B069-7C33-A249-794E7F578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it mean to use AI responsibly?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B5411D-D042-2086-30D7-43415336A7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Will you do it?</a:t>
            </a:r>
          </a:p>
        </p:txBody>
      </p:sp>
    </p:spTree>
    <p:extLst>
      <p:ext uri="{BB962C8B-B14F-4D97-AF65-F5344CB8AC3E}">
        <p14:creationId xmlns:p14="http://schemas.microsoft.com/office/powerpoint/2010/main" val="19846715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205</Words>
  <Application>Microsoft Macintosh PowerPoint</Application>
  <PresentationFormat>Widescreen</PresentationFormat>
  <Paragraphs>27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AI &amp; Society</vt:lpstr>
      <vt:lpstr>The success of neural networks has fueled an explosive growth in the adoption of AI across many domains.  So far, have the benefits of this adoption outweighed the costs?</vt:lpstr>
      <vt:lpstr>Brainstorming benefits and costs</vt:lpstr>
      <vt:lpstr>Things to consider</vt:lpstr>
      <vt:lpstr>How machine learning researchers view the benefits and costs </vt:lpstr>
      <vt:lpstr>What does it mean to use AI responsibly?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Gabriel Hope</dc:creator>
  <cp:lastModifiedBy>Gabriel Hope</cp:lastModifiedBy>
  <cp:revision>1</cp:revision>
  <dcterms:created xsi:type="dcterms:W3CDTF">2025-04-30T15:53:02Z</dcterms:created>
  <dcterms:modified xsi:type="dcterms:W3CDTF">2025-04-30T16:18:20Z</dcterms:modified>
</cp:coreProperties>
</file>